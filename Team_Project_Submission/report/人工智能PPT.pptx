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8" r:id="rId6"/>
    <p:sldId id="262" r:id="rId7"/>
    <p:sldId id="259" r:id="rId8"/>
    <p:sldId id="264" r:id="rId9"/>
    <p:sldId id="268" r:id="rId10"/>
    <p:sldId id="266" r:id="rId11"/>
    <p:sldId id="261" r:id="rId12"/>
    <p:sldId id="267" r:id="rId13"/>
    <p:sldId id="271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59" d="100"/>
          <a:sy n="59" d="100"/>
        </p:scale>
        <p:origin x="91" y="129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大家好，欢迎来到今天的分享。我们将一起探讨一项正在深刻改变我们数字生活的技术——智能推荐。它就像一位无形的向导，一位私人策展人，正在悄然重塑我们与数字世界交互的方式。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你想找一部电影，面对成千上万的选项，从何开始？当你想购物，面对琳琅满目的商品，如何抉择？当你想学习，面对浩如烟海的知识，如何找到最适合你的那一篇？这不仅仅是效率的问题，更是体验的问题。在信息的海洋中，我们渴望的不再是更多，而是更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协同过滤，这是推荐系统的“鼻祖”算法。它的核心思想非常直观：“物以类聚，人以群分”。它可以基于用户，找到和你相似的人喜欢的东西推荐给你；也可以基于物品，找到和你喜欢的东西相似的其他物品。它的魔力在于，纯粹通过用户行为数据来发现隐藏的关联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今天，我们来谈谈一项技术，它就像一位无形的向导，正在悄然改变我们与数字世界交互的方式。这项技术，就是智能推荐。它的核心目标，就是在海量信息与个体需求之间，建立起最高效、最精准的连接。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随着数据量和算力的提升，深度学习为推荐系统带来了革命性的突破。神经网络能够处理更复杂的数据，捕捉更深层次的关系，让推荐系统从简单的“匹配”进化到了更智能的“理解”，实现前所未有的个性化精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智能推荐不仅改变着用户体验，更在创造巨大的商业价值。根据最新报告，全球AI推荐系统市场在2025年已达到29亿美元，预计到2034年将增长至69亿美元，复合年增长率高达10.1%。这背后是所有企业对提升用户体验和业务增长的不懈追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无论是在线购物时的“猜你喜欢”，内容娱乐时的专属Feed流，还是信息获取时的个性化资讯，智能推荐都在为我们打造专属的数字体验。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这种“读心术”般的体验，背后是一系列强大而精妙的算法在驱动。我们称之为“魔法背后的引擎”。接下来，我们将了解其中最核心的几种技术。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而今天，智能推荐的边界正在不断拓展。就在这个月，我们看到了智能推荐在更严肃、更重要领域的应用，比如四川和苏州的AI志愿填报平台。这标志着智能推荐正从消费娱乐，深入到关乎个人未来发展的关键决策中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我的分享到此结束，感谢大家的聆听。现在是问答环节，欢迎大家提问。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-1905000"/>
            <a:ext cx="10160000" cy="6350000"/>
          </a:xfrm>
          <a:prstGeom prst="ellipse">
            <a:avLst/>
          </a:prstGeom>
          <a:solidFill>
            <a:srgbClr val="22D3E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651000" y="3810000"/>
            <a:ext cx="8890000" cy="5080000"/>
          </a:xfrm>
          <a:prstGeom prst="ellipse">
            <a:avLst/>
          </a:prstGeom>
          <a:solidFill>
            <a:srgbClr val="22D3EE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715000" y="4318000"/>
            <a:ext cx="762000" cy="381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4318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2800" dirty="0">
                <a:solidFill>
                  <a:srgbClr val="A1A1AA"/>
                </a:solidFill>
                <a:latin typeface="+mj-ea"/>
                <a:ea typeface="+mj-ea"/>
                <a:cs typeface="Noto Sans SC" panose="020B0200000000000000" charset="-122"/>
                <a:sym typeface="Noto Sans SC" panose="020B0200000000000000" charset="-122"/>
              </a:rPr>
              <a:t>《</a:t>
            </a:r>
            <a:r>
              <a:rPr lang="zh-CN" altLang="en-US" sz="2800" dirty="0">
                <a:solidFill>
                  <a:srgbClr val="A1A1AA"/>
                </a:solidFill>
                <a:latin typeface="+mj-ea"/>
                <a:ea typeface="+mj-ea"/>
                <a:cs typeface="Noto Sans SC" panose="020B0200000000000000" charset="-122"/>
                <a:sym typeface="Noto Sans SC" panose="020B0200000000000000" charset="-122"/>
              </a:rPr>
              <a:t>人工智能基础</a:t>
            </a:r>
            <a:r>
              <a:rPr lang="en-US" altLang="zh-CN" sz="2800" dirty="0">
                <a:solidFill>
                  <a:srgbClr val="A1A1AA"/>
                </a:solidFill>
                <a:latin typeface="+mj-ea"/>
                <a:ea typeface="+mj-ea"/>
                <a:cs typeface="Noto Sans SC" panose="020B0200000000000000" charset="-122"/>
                <a:sym typeface="Noto Sans SC" panose="020B0200000000000000" charset="-122"/>
              </a:rPr>
              <a:t>》</a:t>
            </a:r>
            <a:r>
              <a:rPr lang="zh-CN" altLang="en-US" sz="2800" dirty="0">
                <a:solidFill>
                  <a:srgbClr val="A1A1AA"/>
                </a:solidFill>
                <a:latin typeface="+mj-ea"/>
                <a:ea typeface="+mj-ea"/>
                <a:cs typeface="Noto Sans SC" panose="020B0200000000000000" charset="-122"/>
                <a:sym typeface="Noto Sans SC" panose="020B0200000000000000" charset="-122"/>
              </a:rPr>
              <a:t>期中 </a:t>
            </a:r>
            <a:r>
              <a:rPr lang="en-US" sz="2800" dirty="0">
                <a:solidFill>
                  <a:srgbClr val="A1A1AA"/>
                </a:solidFill>
                <a:latin typeface="+mj-ea"/>
                <a:ea typeface="+mj-ea"/>
                <a:cs typeface="Noto Sans SC" panose="020B0200000000000000" charset="-122"/>
                <a:sym typeface="Noto Sans SC" panose="020B0200000000000000" charset="-122"/>
              </a:rPr>
              <a:t>Project </a:t>
            </a:r>
            <a:r>
              <a:rPr lang="zh-CN" altLang="en-US" sz="2800" dirty="0">
                <a:solidFill>
                  <a:srgbClr val="A1A1AA"/>
                </a:solidFill>
                <a:latin typeface="+mj-ea"/>
                <a:ea typeface="+mj-ea"/>
                <a:cs typeface="Noto Sans SC" panose="020B0200000000000000" charset="-122"/>
                <a:sym typeface="Noto Sans SC" panose="020B0200000000000000" charset="-122"/>
              </a:rPr>
              <a:t>答辩</a:t>
            </a:r>
            <a:endParaRPr lang="zh-CN" altLang="en-US" sz="2800" dirty="0">
              <a:solidFill>
                <a:srgbClr val="A1A1AA"/>
              </a:solidFill>
              <a:latin typeface="+mj-ea"/>
              <a:ea typeface="+mj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2209799" y="1527969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5400" spc="600" dirty="0" err="1">
                <a:solidFill>
                  <a:schemeClr val="bg1"/>
                </a:solidFill>
                <a:latin typeface="+mj-ea"/>
              </a:rPr>
              <a:t>轻量级人脸口罩</a:t>
            </a:r>
            <a:endParaRPr lang="en-US" sz="5400" spc="600" dirty="0">
              <a:solidFill>
                <a:schemeClr val="bg1"/>
              </a:solidFill>
              <a:latin typeface="+mj-ea"/>
            </a:endParaRPr>
          </a:p>
          <a:p>
            <a:r>
              <a:rPr sz="5400" spc="600" dirty="0" err="1">
                <a:solidFill>
                  <a:schemeClr val="bg1"/>
                </a:solidFill>
                <a:latin typeface="+mj-ea"/>
              </a:rPr>
              <a:t>实时检测与预警系统</a:t>
            </a:r>
            <a:endParaRPr sz="5400" spc="600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065417" y="5280024"/>
            <a:ext cx="60611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</a:rPr>
              <a:t>指导老师：王君 教授</a:t>
            </a:r>
            <a:endParaRPr lang="zh-CN" altLang="en-US" sz="200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</a:rPr>
              <a:t>团队成员：</a:t>
            </a:r>
            <a:r>
              <a:rPr lang="zh-CN" sz="2000" dirty="0">
                <a:solidFill>
                  <a:schemeClr val="bg1"/>
                </a:solidFill>
                <a:latin typeface="+mj-ea"/>
                <a:ea typeface="+mj-ea"/>
              </a:rPr>
              <a:t>彭义翔，王庄煦，黄子琪，谭瑞，陈小杰</a:t>
            </a:r>
            <a:r>
              <a:rPr lang="en-US" altLang="zh-CN" sz="2000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endParaRPr lang="zh-CN" altLang="en-US" sz="2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AutoShape 12"/>
          <p:cNvSpPr/>
          <p:nvPr/>
        </p:nvSpPr>
        <p:spPr>
          <a:xfrm>
            <a:off x="8280400" y="2585718"/>
            <a:ext cx="3657627" cy="3510281"/>
          </a:xfrm>
          <a:prstGeom prst="roundRect">
            <a:avLst>
              <a:gd name="adj" fmla="val 0"/>
            </a:avLst>
          </a:prstGeom>
          <a:solidFill>
            <a:srgbClr val="FFFFFF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2" name="AutoShape 2"/>
          <p:cNvSpPr/>
          <p:nvPr/>
        </p:nvSpPr>
        <p:spPr>
          <a:xfrm>
            <a:off x="7620000" y="-1905000"/>
            <a:ext cx="6350000" cy="6350000"/>
          </a:xfrm>
          <a:prstGeom prst="ellipse">
            <a:avLst/>
          </a:prstGeom>
          <a:solidFill>
            <a:srgbClr val="22D3E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" name="AutoShape 3"/>
          <p:cNvSpPr/>
          <p:nvPr/>
        </p:nvSpPr>
        <p:spPr>
          <a:xfrm>
            <a:off x="-1270000" y="4445000"/>
            <a:ext cx="5080000" cy="5080000"/>
          </a:xfrm>
          <a:prstGeom prst="ellipse">
            <a:avLst/>
          </a:prstGeom>
          <a:solidFill>
            <a:srgbClr val="22D3E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09600" y="762000"/>
            <a:ext cx="1097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j-ea"/>
                <a:ea typeface="+mj-ea"/>
              </a:rPr>
              <a:t>项目背景与工程痛点</a:t>
            </a:r>
            <a:endParaRPr lang="en-US" sz="4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58800" y="2539999"/>
            <a:ext cx="3505200" cy="3555999"/>
          </a:xfrm>
          <a:prstGeom prst="roundRect">
            <a:avLst>
              <a:gd name="adj" fmla="val 0"/>
            </a:avLst>
          </a:prstGeom>
          <a:solidFill>
            <a:srgbClr val="FFFFFF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flipV="1">
            <a:off x="558800" y="2470332"/>
            <a:ext cx="3505200" cy="45719"/>
          </a:xfrm>
          <a:prstGeom prst="roundRect">
            <a:avLst>
              <a:gd name="adj" fmla="val 0"/>
            </a:avLst>
          </a:prstGeom>
          <a:solidFill>
            <a:srgbClr val="22D3EE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3600" y="2857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71600" y="2771866"/>
            <a:ext cx="2946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2800" dirty="0">
                <a:solidFill>
                  <a:srgbClr val="00B0F0"/>
                </a:solidFill>
                <a:latin typeface="+mn-ea"/>
                <a:ea typeface="+mn-ea"/>
              </a:rPr>
              <a:t>核心应用场景</a:t>
            </a:r>
            <a:endParaRPr lang="en-US" sz="2800" dirty="0">
              <a:solidFill>
                <a:srgbClr val="00B0F0"/>
              </a:solidFill>
              <a:latin typeface="+mn-ea"/>
              <a:ea typeface="+mn-ea"/>
            </a:endParaRPr>
          </a:p>
        </p:txBody>
      </p:sp>
      <p:cxnSp>
        <p:nvCxnSpPr>
          <p:cNvPr id="10" name="Connector 10"/>
          <p:cNvCxnSpPr/>
          <p:nvPr/>
        </p:nvCxnSpPr>
        <p:spPr>
          <a:xfrm rot="-14817">
            <a:off x="838174" y="3467282"/>
            <a:ext cx="294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1A1A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971564" y="3658146"/>
            <a:ext cx="2946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7000"/>
              </a:lnSpc>
              <a:defRPr/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公共卫生监控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>
              <a:lnSpc>
                <a:spcPct val="117000"/>
              </a:lnSpc>
              <a:defRPr/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智能安防门禁系统</a:t>
            </a:r>
            <a:endParaRPr lang="en-US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317973" y="2540000"/>
            <a:ext cx="3657627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316186" y="2474688"/>
            <a:ext cx="3643059" cy="45719"/>
          </a:xfrm>
          <a:prstGeom prst="roundRect">
            <a:avLst>
              <a:gd name="adj" fmla="val 0"/>
            </a:avLst>
          </a:prstGeom>
          <a:solidFill>
            <a:srgbClr val="22D3EE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029200" y="2787832"/>
            <a:ext cx="2946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2800" dirty="0">
                <a:solidFill>
                  <a:srgbClr val="00B0F0"/>
                </a:solidFill>
                <a:latin typeface="+mn-ea"/>
                <a:ea typeface="+mn-ea"/>
              </a:rPr>
              <a:t>当前技术痛点</a:t>
            </a:r>
            <a:endParaRPr lang="en-US" sz="2800" dirty="0">
              <a:solidFill>
                <a:srgbClr val="00B0F0"/>
              </a:solidFill>
              <a:latin typeface="+mn-ea"/>
              <a:ea typeface="+mn-ea"/>
            </a:endParaRPr>
          </a:p>
        </p:txBody>
      </p:sp>
      <p:cxnSp>
        <p:nvCxnSpPr>
          <p:cNvPr id="16" name="Connector 16"/>
          <p:cNvCxnSpPr/>
          <p:nvPr/>
        </p:nvCxnSpPr>
        <p:spPr>
          <a:xfrm rot="-14817">
            <a:off x="8382014" y="3441882"/>
            <a:ext cx="294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1A1A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504845" y="3497945"/>
            <a:ext cx="3454400" cy="265302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lvl="1"/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传统目标检测模型参数量庞大，显存占用高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lvl="1"/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lvl="1"/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难以直接部署于算力受限的边缘端设备 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(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如树莓派、普通单片机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en-US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267700" y="2474687"/>
            <a:ext cx="3454400" cy="45719"/>
          </a:xfrm>
          <a:prstGeom prst="roundRect">
            <a:avLst>
              <a:gd name="adj" fmla="val 0"/>
            </a:avLst>
          </a:prstGeom>
          <a:solidFill>
            <a:srgbClr val="22D3EE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686800" y="2806198"/>
            <a:ext cx="2946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2800" dirty="0">
                <a:solidFill>
                  <a:srgbClr val="00B0F0"/>
                </a:solidFill>
                <a:latin typeface="+mn-ea"/>
                <a:ea typeface="+mn-ea"/>
              </a:rPr>
              <a:t>本项目核心目标</a:t>
            </a:r>
            <a:endParaRPr lang="en-US" sz="2800" dirty="0">
              <a:solidFill>
                <a:srgbClr val="00B0F0"/>
              </a:solidFill>
              <a:latin typeface="+mn-ea"/>
              <a:ea typeface="+mn-ea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8597900" y="3832858"/>
            <a:ext cx="3124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7000"/>
              </a:lnSpc>
              <a:defRPr/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不仅要“看得准”，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>
              <a:lnSpc>
                <a:spcPct val="117000"/>
              </a:lnSpc>
              <a:defRPr/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更要追求“极度轻量”与“全量实时”</a:t>
            </a:r>
            <a:endParaRPr lang="en-US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cxnSp>
        <p:nvCxnSpPr>
          <p:cNvPr id="24" name="Connector 10"/>
          <p:cNvCxnSpPr/>
          <p:nvPr/>
        </p:nvCxnSpPr>
        <p:spPr>
          <a:xfrm rot="21585183">
            <a:off x="4698999" y="3447325"/>
            <a:ext cx="294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1A1A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5"/>
          <p:cNvSpPr/>
          <p:nvPr/>
        </p:nvSpPr>
        <p:spPr>
          <a:xfrm>
            <a:off x="609600" y="1675313"/>
            <a:ext cx="3454399" cy="45719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04000" y="254000"/>
            <a:ext cx="6350000" cy="6350000"/>
          </a:xfrm>
          <a:prstGeom prst="ellipse">
            <a:avLst/>
          </a:prstGeom>
          <a:solidFill>
            <a:srgbClr val="22D3EE">
              <a:alpha val="5000"/>
            </a:srgbClr>
          </a:solidFill>
          <a:ln cap="flat" cmpd="sng">
            <a:solidFill>
              <a:srgbClr val="09BAD4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444508" y="635000"/>
            <a:ext cx="8013692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j-ea"/>
                <a:ea typeface="+mj-ea"/>
              </a:rPr>
              <a:t>技术路线与基线建立 </a:t>
            </a:r>
            <a:r>
              <a:rPr lang="en-US" altLang="zh-CN" sz="4000" b="1" dirty="0">
                <a:solidFill>
                  <a:schemeClr val="bg1"/>
                </a:solidFill>
                <a:latin typeface="+mj-ea"/>
                <a:ea typeface="+mj-ea"/>
              </a:rPr>
              <a:t>(YOLOv8n)</a:t>
            </a:r>
            <a:endParaRPr lang="en-US" sz="4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57218" y="3435675"/>
            <a:ext cx="5461000" cy="1403025"/>
          </a:xfrm>
          <a:prstGeom prst="roundRect">
            <a:avLst>
              <a:gd name="adj" fmla="val 0"/>
            </a:avLst>
          </a:prstGeom>
          <a:solidFill>
            <a:srgbClr val="FFFFFF">
              <a:alpha val="3000"/>
            </a:srgbClr>
          </a:solidFill>
          <a:ln cap="flat" cmpd="sng">
            <a:solidFill>
              <a:srgbClr val="E6CFCF">
                <a:alpha val="3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48588" y="1793421"/>
            <a:ext cx="50800" cy="11430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79030" y="3683161"/>
            <a:ext cx="5259432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2400" dirty="0">
                <a:solidFill>
                  <a:srgbClr val="00B0F0"/>
                </a:solidFill>
                <a:latin typeface="+mn-ea"/>
                <a:ea typeface="+mn-ea"/>
              </a:rPr>
              <a:t>数据构建与预处理</a:t>
            </a:r>
            <a:r>
              <a:rPr lang="en-US" altLang="zh-CN" sz="2000" b="1" dirty="0">
                <a:solidFill>
                  <a:schemeClr val="bg1"/>
                </a:solidFill>
                <a:latin typeface="+mn-ea"/>
                <a:ea typeface="+mn-ea"/>
              </a:rPr>
              <a:t>: </a:t>
            </a:r>
            <a:endParaRPr lang="en-US" altLang="zh-CN" sz="2000" b="1" dirty="0">
              <a:solidFill>
                <a:schemeClr val="bg1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2000" dirty="0">
                <a:solidFill>
                  <a:schemeClr val="bg1"/>
                </a:solidFill>
                <a:latin typeface="+mn-ea"/>
                <a:ea typeface="+mn-ea"/>
              </a:rPr>
              <a:t>1400</a:t>
            </a:r>
            <a:r>
              <a:rPr lang="zh-CN" altLang="en-US" sz="2000" dirty="0">
                <a:solidFill>
                  <a:schemeClr val="bg1"/>
                </a:solidFill>
                <a:latin typeface="+mn-ea"/>
                <a:ea typeface="+mn-ea"/>
              </a:rPr>
              <a:t>张高清口罩图像（涵盖多光照、多角度、复杂遮挡）</a:t>
            </a:r>
            <a:endParaRPr lang="zh-CN" altLang="en-US" sz="20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57218" y="5321624"/>
            <a:ext cx="5461000" cy="1282375"/>
          </a:xfrm>
          <a:prstGeom prst="roundRect">
            <a:avLst>
              <a:gd name="adj" fmla="val 0"/>
            </a:avLst>
          </a:prstGeom>
          <a:solidFill>
            <a:srgbClr val="FFFFFF">
              <a:alpha val="3000"/>
            </a:srgbClr>
          </a:solidFill>
          <a:ln cap="flat" cmpd="sng">
            <a:solidFill>
              <a:srgbClr val="E6CFCF">
                <a:alpha val="3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7"/>
          <p:cNvSpPr/>
          <p:nvPr/>
        </p:nvSpPr>
        <p:spPr>
          <a:xfrm>
            <a:off x="478246" y="1809750"/>
            <a:ext cx="5461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3000"/>
            </a:srgbClr>
          </a:solidFill>
          <a:ln cap="flat" cmpd="sng">
            <a:solidFill>
              <a:srgbClr val="E6CFCF">
                <a:alpha val="3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2" name="AutoShape 8"/>
          <p:cNvSpPr/>
          <p:nvPr/>
        </p:nvSpPr>
        <p:spPr>
          <a:xfrm flipH="1">
            <a:off x="443492" y="3452004"/>
            <a:ext cx="45719" cy="1386696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10"/>
          <p:cNvSpPr/>
          <p:nvPr/>
        </p:nvSpPr>
        <p:spPr>
          <a:xfrm>
            <a:off x="582550" y="1790700"/>
            <a:ext cx="5289204" cy="114299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2400" dirty="0">
                <a:solidFill>
                  <a:srgbClr val="00B0F0"/>
                </a:solidFill>
                <a:latin typeface="+mn-ea"/>
                <a:ea typeface="+mn-ea"/>
              </a:rPr>
              <a:t>算法基线选择</a:t>
            </a:r>
            <a:r>
              <a:rPr lang="en-US" altLang="zh-CN" sz="2000" b="1" dirty="0">
                <a:solidFill>
                  <a:schemeClr val="bg1"/>
                </a:solidFill>
                <a:latin typeface="+mn-ea"/>
                <a:ea typeface="+mn-ea"/>
              </a:rPr>
              <a:t>:                   </a:t>
            </a:r>
            <a:endParaRPr lang="en-US" altLang="zh-CN" sz="2000" b="1" dirty="0">
              <a:solidFill>
                <a:schemeClr val="bg1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sz="2000" dirty="0">
                <a:solidFill>
                  <a:schemeClr val="bg1"/>
                </a:solidFill>
                <a:latin typeface="+mn-ea"/>
                <a:ea typeface="+mn-ea"/>
              </a:rPr>
              <a:t>采用 </a:t>
            </a:r>
            <a:r>
              <a:rPr lang="en-US" altLang="zh-CN" sz="2000" dirty="0">
                <a:solidFill>
                  <a:schemeClr val="bg1"/>
                </a:solidFill>
                <a:latin typeface="+mn-ea"/>
                <a:ea typeface="+mn-ea"/>
              </a:rPr>
              <a:t>YOLOv8 Nano </a:t>
            </a:r>
            <a:r>
              <a:rPr lang="zh-CN" altLang="en-US" sz="2000" dirty="0">
                <a:solidFill>
                  <a:schemeClr val="bg1"/>
                </a:solidFill>
                <a:latin typeface="+mn-ea"/>
                <a:ea typeface="+mn-ea"/>
              </a:rPr>
              <a:t>版本，天生具备轻量化基因</a:t>
            </a:r>
            <a:endParaRPr lang="en-US" sz="2000" b="0" i="0" u="none" strike="noStrike" dirty="0">
              <a:solidFill>
                <a:schemeClr val="bg1"/>
              </a:solidFill>
              <a:latin typeface="+mn-ea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6" name="AutoShape 8"/>
          <p:cNvSpPr/>
          <p:nvPr/>
        </p:nvSpPr>
        <p:spPr>
          <a:xfrm>
            <a:off x="431519" y="5340675"/>
            <a:ext cx="45719" cy="1263324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10"/>
          <p:cNvSpPr/>
          <p:nvPr/>
        </p:nvSpPr>
        <p:spPr>
          <a:xfrm>
            <a:off x="579030" y="5454811"/>
            <a:ext cx="5259432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lvl="1"/>
            <a:r>
              <a:rPr lang="zh-CN" altLang="en-US" sz="2400" dirty="0">
                <a:solidFill>
                  <a:srgbClr val="00B0F0"/>
                </a:solidFill>
                <a:latin typeface="+mn-ea"/>
                <a:ea typeface="+mn-ea"/>
              </a:rPr>
              <a:t>阶段性实验成果</a:t>
            </a:r>
            <a:r>
              <a:rPr lang="en-US" altLang="zh-CN" sz="2000" b="1" dirty="0">
                <a:solidFill>
                  <a:schemeClr val="bg1"/>
                </a:solidFill>
                <a:latin typeface="+mn-ea"/>
                <a:ea typeface="+mn-ea"/>
              </a:rPr>
              <a:t>:     </a:t>
            </a:r>
            <a:endParaRPr lang="en-US" altLang="zh-CN" sz="2000" b="1" dirty="0">
              <a:solidFill>
                <a:schemeClr val="bg1"/>
              </a:solidFill>
              <a:latin typeface="+mn-ea"/>
              <a:ea typeface="+mn-ea"/>
            </a:endParaRPr>
          </a:p>
          <a:p>
            <a:pPr lvl="1"/>
            <a:r>
              <a:rPr lang="zh-CN" altLang="en-US" sz="2000" dirty="0">
                <a:solidFill>
                  <a:schemeClr val="bg1"/>
                </a:solidFill>
                <a:latin typeface="+mn-ea"/>
                <a:ea typeface="+mn-ea"/>
              </a:rPr>
              <a:t>经历 </a:t>
            </a:r>
            <a:r>
              <a:rPr lang="en-US" altLang="zh-CN" sz="2000" dirty="0">
                <a:solidFill>
                  <a:schemeClr val="bg1"/>
                </a:solidFill>
                <a:latin typeface="+mn-ea"/>
                <a:ea typeface="+mn-ea"/>
              </a:rPr>
              <a:t>100 Epochs </a:t>
            </a:r>
            <a:r>
              <a:rPr lang="zh-CN" altLang="en-US" sz="2000" dirty="0">
                <a:solidFill>
                  <a:schemeClr val="bg1"/>
                </a:solidFill>
                <a:latin typeface="+mn-ea"/>
                <a:ea typeface="+mn-ea"/>
              </a:rPr>
              <a:t>稳定训练，无过拟合现象。严格测试集下 </a:t>
            </a:r>
            <a:r>
              <a:rPr lang="en-US" altLang="zh-CN" sz="2000" dirty="0">
                <a:solidFill>
                  <a:schemeClr val="bg1"/>
                </a:solidFill>
                <a:latin typeface="+mn-ea"/>
                <a:ea typeface="+mn-ea"/>
              </a:rPr>
              <a:t>mAP50 </a:t>
            </a:r>
            <a:r>
              <a:rPr lang="zh-CN" altLang="en-US" sz="2000" dirty="0">
                <a:solidFill>
                  <a:schemeClr val="bg1"/>
                </a:solidFill>
                <a:latin typeface="+mn-ea"/>
                <a:ea typeface="+mn-ea"/>
              </a:rPr>
              <a:t>达到 </a:t>
            </a:r>
            <a:r>
              <a:rPr lang="en-US" altLang="zh-CN" sz="2000" dirty="0">
                <a:solidFill>
                  <a:schemeClr val="bg1"/>
                </a:solidFill>
                <a:latin typeface="+mn-ea"/>
                <a:ea typeface="+mn-ea"/>
              </a:rPr>
              <a:t>86.5%</a:t>
            </a:r>
            <a:r>
              <a:rPr lang="zh-CN" altLang="en-US" sz="2000" dirty="0">
                <a:solidFill>
                  <a:schemeClr val="bg1"/>
                </a:solidFill>
                <a:latin typeface="+mn-ea"/>
                <a:ea typeface="+mn-ea"/>
              </a:rPr>
              <a:t>，完成高精度基线构建</a:t>
            </a:r>
            <a:endParaRPr lang="zh-CN" altLang="en-US" sz="20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42" name="图片 41"/>
          <p:cNvPicPr/>
          <p:nvPr/>
        </p:nvPicPr>
        <p:blipFill>
          <a:blip r:embed="rId1"/>
          <a:srcRect l="5376" r="8705"/>
          <a:stretch>
            <a:fillRect/>
          </a:stretch>
        </p:blipFill>
        <p:spPr>
          <a:xfrm>
            <a:off x="6235706" y="1437058"/>
            <a:ext cx="5921916" cy="5252576"/>
          </a:xfrm>
          <a:prstGeom prst="roundRect">
            <a:avLst/>
          </a:prstGeom>
        </p:spPr>
      </p:pic>
      <p:sp>
        <p:nvSpPr>
          <p:cNvPr id="44" name="AutoShape 5"/>
          <p:cNvSpPr/>
          <p:nvPr/>
        </p:nvSpPr>
        <p:spPr>
          <a:xfrm>
            <a:off x="499388" y="1407796"/>
            <a:ext cx="3454399" cy="45719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534194" y="-381000"/>
            <a:ext cx="7620000" cy="7620000"/>
          </a:xfrm>
          <a:prstGeom prst="ellipse">
            <a:avLst/>
          </a:prstGeom>
          <a:solidFill>
            <a:srgbClr val="22D3E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2153194" y="3429000"/>
            <a:ext cx="762000" cy="50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868" y="609234"/>
            <a:ext cx="11482264" cy="5741132"/>
          </a:xfrm>
          <a:prstGeom prst="rect">
            <a:avLst/>
          </a:prstGeom>
        </p:spPr>
      </p:pic>
      <p:sp>
        <p:nvSpPr>
          <p:cNvPr id="15" name="AutoShape 5"/>
          <p:cNvSpPr/>
          <p:nvPr/>
        </p:nvSpPr>
        <p:spPr>
          <a:xfrm>
            <a:off x="3492500" y="285204"/>
            <a:ext cx="5207000" cy="54429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71126" y="-2918823"/>
            <a:ext cx="6177282" cy="5837646"/>
          </a:xfrm>
          <a:prstGeom prst="ellipse">
            <a:avLst/>
          </a:prstGeom>
          <a:solidFill>
            <a:srgbClr val="22D3E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905000" y="3810000"/>
            <a:ext cx="6350000" cy="6350000"/>
          </a:xfrm>
          <a:prstGeom prst="ellipse">
            <a:avLst/>
          </a:prstGeom>
          <a:solidFill>
            <a:srgbClr val="22D3E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 rot="5400000">
            <a:off x="4553584" y="3660141"/>
            <a:ext cx="3130550" cy="45719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4"/>
          <p:cNvSpPr/>
          <p:nvPr/>
        </p:nvSpPr>
        <p:spPr>
          <a:xfrm>
            <a:off x="937700" y="1677737"/>
            <a:ext cx="439675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22D3E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6"/>
          <p:cNvSpPr/>
          <p:nvPr/>
        </p:nvSpPr>
        <p:spPr>
          <a:xfrm>
            <a:off x="1235890" y="1965235"/>
            <a:ext cx="2996476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2800" dirty="0">
                <a:solidFill>
                  <a:schemeClr val="bg1"/>
                </a:solidFill>
                <a:latin typeface="+mn-ea"/>
                <a:ea typeface="+mn-ea"/>
              </a:rPr>
              <a:t>深度工程优化手段</a:t>
            </a:r>
            <a:endParaRPr lang="en-US" sz="28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6" name="AutoShape 4"/>
          <p:cNvSpPr/>
          <p:nvPr/>
        </p:nvSpPr>
        <p:spPr>
          <a:xfrm>
            <a:off x="508000" y="571500"/>
            <a:ext cx="762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j-ea"/>
                <a:ea typeface="+mj-ea"/>
              </a:rPr>
              <a:t>核心创新：</a:t>
            </a:r>
            <a:r>
              <a:rPr lang="en-US" altLang="zh-CN" sz="4000" b="1" dirty="0">
                <a:solidFill>
                  <a:schemeClr val="bg1"/>
                </a:solidFill>
                <a:latin typeface="+mj-ea"/>
                <a:ea typeface="+mj-ea"/>
              </a:rPr>
              <a:t>INT8 </a:t>
            </a:r>
            <a:r>
              <a:rPr lang="zh-CN" altLang="en-US" sz="4000" b="1" dirty="0">
                <a:solidFill>
                  <a:schemeClr val="bg1"/>
                </a:solidFill>
                <a:latin typeface="+mj-ea"/>
                <a:ea typeface="+mj-ea"/>
              </a:rPr>
              <a:t>模型量化压制</a:t>
            </a:r>
            <a:endParaRPr lang="en-US" sz="4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AutoShape 4"/>
          <p:cNvSpPr/>
          <p:nvPr/>
        </p:nvSpPr>
        <p:spPr>
          <a:xfrm>
            <a:off x="6961405" y="1651000"/>
            <a:ext cx="439675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22D3E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文本框 18"/>
          <p:cNvSpPr txBox="1"/>
          <p:nvPr/>
        </p:nvSpPr>
        <p:spPr>
          <a:xfrm>
            <a:off x="1072777" y="2918823"/>
            <a:ext cx="43967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剥离 </a:t>
            </a:r>
            <a:r>
              <a:rPr lang="en-US" altLang="zh-CN" sz="2400" dirty="0" err="1">
                <a:solidFill>
                  <a:schemeClr val="bg1"/>
                </a:solidFill>
                <a:latin typeface="+mn-ea"/>
                <a:ea typeface="+mn-ea"/>
              </a:rPr>
              <a:t>PyTorch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 庞大训练框架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lvl="1"/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lvl="1"/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转化为高度精简的跨平台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ONNX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计算图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lvl="1"/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lvl="1"/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激活 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INT8 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量化策略，强制离散化处理</a:t>
            </a:r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1" name="AutoShape 6"/>
          <p:cNvSpPr/>
          <p:nvPr/>
        </p:nvSpPr>
        <p:spPr>
          <a:xfrm>
            <a:off x="7343921" y="1965235"/>
            <a:ext cx="2603499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2800" dirty="0">
                <a:solidFill>
                  <a:schemeClr val="bg1"/>
                </a:solidFill>
                <a:latin typeface="+mn-ea"/>
                <a:ea typeface="+mn-ea"/>
              </a:rPr>
              <a:t>技术落地收益</a:t>
            </a:r>
            <a:endParaRPr lang="en-US" sz="28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096482" y="2918823"/>
            <a:ext cx="41578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物理体积：实现从 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6.0MB 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到极小体积的极限压缩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lvl="1"/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lvl="1"/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算力释放：大幅提升纯 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CPU 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环境下的矩阵乘法速度，消除显卡依赖</a:t>
            </a:r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5" name="AutoShape 7"/>
          <p:cNvSpPr/>
          <p:nvPr/>
        </p:nvSpPr>
        <p:spPr>
          <a:xfrm>
            <a:off x="937699" y="1600277"/>
            <a:ext cx="4396749" cy="7746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7"/>
          <p:cNvSpPr/>
          <p:nvPr/>
        </p:nvSpPr>
        <p:spPr>
          <a:xfrm>
            <a:off x="6977016" y="1604667"/>
            <a:ext cx="4396750" cy="8063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AutoShape 27"/>
          <p:cNvSpPr/>
          <p:nvPr/>
        </p:nvSpPr>
        <p:spPr>
          <a:xfrm>
            <a:off x="553719" y="3428999"/>
            <a:ext cx="10194652" cy="2673531"/>
          </a:xfrm>
          <a:prstGeom prst="roundRect">
            <a:avLst>
              <a:gd name="adj" fmla="val 0"/>
            </a:avLst>
          </a:prstGeom>
          <a:solidFill>
            <a:srgbClr val="22D3EE">
              <a:alpha val="8000"/>
            </a:srgbClr>
          </a:solidFill>
          <a:ln w="12700" cap="flat" cmpd="sng">
            <a:solidFill>
              <a:srgbClr val="22D3E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2" name="AutoShape 2"/>
          <p:cNvSpPr/>
          <p:nvPr/>
        </p:nvSpPr>
        <p:spPr>
          <a:xfrm>
            <a:off x="508000" y="508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j-ea"/>
                <a:ea typeface="+mj-ea"/>
              </a:rPr>
              <a:t>性能对比：精度零掉点，速度大狂飙</a:t>
            </a:r>
            <a:endParaRPr lang="en-US" sz="4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08000" y="3428999"/>
            <a:ext cx="45719" cy="2673531"/>
          </a:xfrm>
          <a:prstGeom prst="roundRect">
            <a:avLst>
              <a:gd name="adj" fmla="val 0"/>
            </a:avLst>
          </a:prstGeom>
          <a:solidFill>
            <a:srgbClr val="22D3EE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49302" y="3656679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2800" dirty="0">
                <a:solidFill>
                  <a:schemeClr val="bg1"/>
                </a:solidFill>
                <a:latin typeface="+mn-ea"/>
                <a:ea typeface="+mn-ea"/>
              </a:rPr>
              <a:t>核心数据指标验收</a:t>
            </a:r>
            <a:endParaRPr lang="en-US" sz="28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49302" y="4384829"/>
            <a:ext cx="8734697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lvl="1"/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精度表现：量化后 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mAP50 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稳居 </a:t>
            </a:r>
            <a:r>
              <a:rPr lang="en-US" altLang="zh-CN" sz="2800" b="1" dirty="0">
                <a:solidFill>
                  <a:schemeClr val="bg1"/>
                </a:solidFill>
                <a:latin typeface="+mn-ea"/>
                <a:ea typeface="+mn-ea"/>
              </a:rPr>
              <a:t>86.5%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，实现精度无损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lvl="1"/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lvl="1"/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速度突破：纯 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CPU 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环境实测推理速度高达 </a:t>
            </a:r>
            <a:r>
              <a:rPr lang="en-US" altLang="zh-CN" sz="2800" b="1" dirty="0">
                <a:solidFill>
                  <a:schemeClr val="bg1"/>
                </a:solidFill>
                <a:latin typeface="+mn-ea"/>
                <a:ea typeface="+mn-ea"/>
              </a:rPr>
              <a:t>120.6 FPS</a:t>
            </a:r>
            <a:endParaRPr lang="en-US" altLang="zh-CN" sz="28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cxnSp>
        <p:nvCxnSpPr>
          <p:cNvPr id="18" name="Connector 18"/>
          <p:cNvCxnSpPr/>
          <p:nvPr/>
        </p:nvCxnSpPr>
        <p:spPr>
          <a:xfrm rot="5331254">
            <a:off x="2984500" y="59627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1A1A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Connector 20"/>
          <p:cNvCxnSpPr/>
          <p:nvPr/>
        </p:nvCxnSpPr>
        <p:spPr>
          <a:xfrm rot="5390708">
            <a:off x="4254500" y="3994159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1A1AA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719" y="1571662"/>
            <a:ext cx="7915711" cy="1683762"/>
          </a:xfrm>
          <a:prstGeom prst="rect">
            <a:avLst/>
          </a:prstGeom>
          <a:effectLst>
            <a:glow rad="76200">
              <a:srgbClr val="00B0F0">
                <a:alpha val="40000"/>
              </a:srgbClr>
            </a:glow>
            <a:softEdge rad="63500"/>
          </a:effectLst>
        </p:spPr>
      </p:pic>
      <p:sp>
        <p:nvSpPr>
          <p:cNvPr id="33" name="AutoShape 5"/>
          <p:cNvSpPr/>
          <p:nvPr/>
        </p:nvSpPr>
        <p:spPr>
          <a:xfrm>
            <a:off x="553719" y="1266671"/>
            <a:ext cx="3454399" cy="45719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667000" y="-3587750"/>
            <a:ext cx="7620000" cy="7620000"/>
          </a:xfrm>
          <a:prstGeom prst="ellipse">
            <a:avLst/>
          </a:prstGeom>
          <a:solidFill>
            <a:srgbClr val="22D3E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432800" y="4673600"/>
            <a:ext cx="6350000" cy="6350000"/>
          </a:xfrm>
          <a:prstGeom prst="ellipse">
            <a:avLst/>
          </a:prstGeom>
          <a:solidFill>
            <a:srgbClr val="22D3EE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09600" y="7620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j-ea"/>
                <a:ea typeface="+mj-ea"/>
              </a:rPr>
              <a:t>端到端流媒体接入与状态机预警</a:t>
            </a:r>
            <a:endParaRPr lang="en-US" sz="4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09599" y="1524000"/>
            <a:ext cx="3454399" cy="45719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09600" y="2540000"/>
            <a:ext cx="3454400" cy="3505198"/>
          </a:xfrm>
          <a:prstGeom prst="roundRect">
            <a:avLst>
              <a:gd name="adj" fmla="val 0"/>
            </a:avLst>
          </a:prstGeom>
          <a:solidFill>
            <a:srgbClr val="FFFFFF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09600" y="2540000"/>
            <a:ext cx="3454400" cy="50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310640" y="2765425"/>
            <a:ext cx="29464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2800" dirty="0">
                <a:solidFill>
                  <a:schemeClr val="bg1"/>
                </a:solidFill>
                <a:latin typeface="+mn-ea"/>
                <a:ea typeface="+mn-ea"/>
              </a:rPr>
              <a:t>底层稳定性优化</a:t>
            </a:r>
            <a:endParaRPr lang="en-US" sz="28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96107" y="3416300"/>
            <a:ext cx="3276572" cy="161639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引入 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stream=True 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机制，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彻底消除内存泄漏隐患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(Memory Leak)</a:t>
            </a:r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368800" y="2540000"/>
            <a:ext cx="34544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368800" y="2540000"/>
            <a:ext cx="3454400" cy="50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128000" y="2540000"/>
            <a:ext cx="34544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128000" y="2540000"/>
            <a:ext cx="3454400" cy="50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31200" y="2765425"/>
            <a:ext cx="508000" cy="508000"/>
          </a:xfrm>
          <a:prstGeom prst="rect">
            <a:avLst/>
          </a:prstGeom>
        </p:spPr>
      </p:pic>
      <p:pic>
        <p:nvPicPr>
          <p:cNvPr id="25" name="Picture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6120" y="2733675"/>
            <a:ext cx="508000" cy="508000"/>
          </a:xfrm>
          <a:prstGeom prst="rect">
            <a:avLst/>
          </a:prstGeom>
        </p:spPr>
      </p:pic>
      <p:sp>
        <p:nvSpPr>
          <p:cNvPr id="27" name="AutoShape 9"/>
          <p:cNvSpPr/>
          <p:nvPr/>
        </p:nvSpPr>
        <p:spPr>
          <a:xfrm>
            <a:off x="9042400" y="2770596"/>
            <a:ext cx="29464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2800" dirty="0">
                <a:solidFill>
                  <a:schemeClr val="bg1"/>
                </a:solidFill>
                <a:latin typeface="+mn-ea"/>
                <a:ea typeface="+mn-ea"/>
              </a:rPr>
              <a:t>软硬件闭环</a:t>
            </a:r>
            <a:endParaRPr lang="en-US" sz="28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9" name="AutoShape 9"/>
          <p:cNvSpPr/>
          <p:nvPr/>
        </p:nvSpPr>
        <p:spPr>
          <a:xfrm>
            <a:off x="5181600" y="2735399"/>
            <a:ext cx="29464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2800" dirty="0">
                <a:solidFill>
                  <a:schemeClr val="bg1"/>
                </a:solidFill>
                <a:latin typeface="+mn-ea"/>
                <a:ea typeface="+mn-ea"/>
              </a:rPr>
              <a:t>状态机逻辑控制</a:t>
            </a:r>
            <a:endParaRPr lang="en-US" sz="28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31" name="Picture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41520" y="2733675"/>
            <a:ext cx="508000" cy="508000"/>
          </a:xfrm>
          <a:prstGeom prst="rect">
            <a:avLst/>
          </a:prstGeom>
        </p:spPr>
      </p:pic>
      <p:sp>
        <p:nvSpPr>
          <p:cNvPr id="35" name="AutoShape 11"/>
          <p:cNvSpPr/>
          <p:nvPr/>
        </p:nvSpPr>
        <p:spPr>
          <a:xfrm>
            <a:off x="8328660" y="3068319"/>
            <a:ext cx="3053080" cy="161639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连续 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15 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帧违规即刻触发底层高频蜂鸣器报警</a:t>
            </a:r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7" name="AutoShape 11"/>
          <p:cNvSpPr/>
          <p:nvPr/>
        </p:nvSpPr>
        <p:spPr>
          <a:xfrm>
            <a:off x="4622856" y="3616326"/>
            <a:ext cx="3454372" cy="161639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lvl="1"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Mask Detected (SAFE)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：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实时绿色高亮追踪</a:t>
            </a:r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No Mask (DANGER)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：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设置 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15 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帧容忍阈值</a:t>
            </a:r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2921000" y="-1143000"/>
            <a:ext cx="6350000" cy="3810000"/>
          </a:xfrm>
          <a:prstGeom prst="ellipse">
            <a:avLst/>
          </a:prstGeom>
          <a:solidFill>
            <a:srgbClr val="22D3E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46446" y="762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j-ea"/>
                <a:ea typeface="+mj-ea"/>
              </a:rPr>
              <a:t>系统实机演示 </a:t>
            </a:r>
            <a:r>
              <a:rPr lang="en-US" altLang="zh-CN" sz="4000" b="1" dirty="0">
                <a:solidFill>
                  <a:schemeClr val="bg1"/>
                </a:solidFill>
                <a:latin typeface="+mj-ea"/>
                <a:ea typeface="+mj-ea"/>
              </a:rPr>
              <a:t>(Live Demo)</a:t>
            </a:r>
            <a:endParaRPr lang="en-US" sz="4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588000" y="4191000"/>
            <a:ext cx="1016000" cy="50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2921000" y="3429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（请评委老师观看本地摄像头实时流媒体演示）</a:t>
            </a:r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-1778000" y="4699106"/>
            <a:ext cx="5080000" cy="3810000"/>
          </a:xfrm>
          <a:prstGeom prst="ellipse">
            <a:avLst/>
          </a:prstGeom>
          <a:solidFill>
            <a:srgbClr val="22D3E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-3187338" y="507894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chemeClr val="bg1"/>
                </a:solidFill>
                <a:latin typeface="+mj-ea"/>
                <a:ea typeface="+mj-ea"/>
              </a:rPr>
              <a:t>项目总结与团队分工</a:t>
            </a:r>
            <a:endParaRPr lang="en-US" sz="4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80898" y="1478175"/>
            <a:ext cx="4455527" cy="45719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502588" y="1832217"/>
            <a:ext cx="10568404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全链路打通：数据获取 </a:t>
            </a:r>
            <a:r>
              <a:rPr lang="en-US" altLang="zh-CN" sz="2400" b="1" dirty="0">
                <a:solidFill>
                  <a:schemeClr val="bg1"/>
                </a:solidFill>
                <a:latin typeface="+mn-ea"/>
                <a:ea typeface="+mn-ea"/>
              </a:rPr>
              <a:t>-&gt; 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基线训练 </a:t>
            </a:r>
            <a:r>
              <a:rPr lang="en-US" altLang="zh-CN" sz="2400" b="1" dirty="0">
                <a:solidFill>
                  <a:schemeClr val="bg1"/>
                </a:solidFill>
                <a:latin typeface="+mn-ea"/>
                <a:ea typeface="+mn-ea"/>
              </a:rPr>
              <a:t>-&gt; INT8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量化 </a:t>
            </a:r>
            <a:r>
              <a:rPr lang="en-US" altLang="zh-CN" sz="2400" b="1" dirty="0">
                <a:solidFill>
                  <a:schemeClr val="bg1"/>
                </a:solidFill>
                <a:latin typeface="+mn-ea"/>
                <a:ea typeface="+mn-ea"/>
              </a:rPr>
              <a:t>-&gt; 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工程部署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07596" y="2848217"/>
            <a:ext cx="10038631" cy="235888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团队成员分工：</a:t>
            </a:r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  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- 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彭义翔：整体架构、核心训练、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INT8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量化压制与 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Demo 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开发</a:t>
            </a:r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  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- 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王庄旭，黄子琪：数据集处理、代码规范验证与环境测试</a:t>
            </a:r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  </a:t>
            </a:r>
            <a:r>
              <a:rPr lang="en-US" altLang="zh-CN" sz="2400" dirty="0">
                <a:solidFill>
                  <a:schemeClr val="bg1"/>
                </a:solidFill>
                <a:latin typeface="+mn-ea"/>
                <a:ea typeface="+mn-ea"/>
              </a:rPr>
              <a:t>- 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谭瑞，陈小杰：实验数据梳理、图表制作与报告排版</a:t>
            </a:r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1" name="AutoShape 2"/>
          <p:cNvSpPr/>
          <p:nvPr/>
        </p:nvSpPr>
        <p:spPr>
          <a:xfrm>
            <a:off x="8437155" y="-3175000"/>
            <a:ext cx="6350000" cy="6350000"/>
          </a:xfrm>
          <a:prstGeom prst="ellipse">
            <a:avLst/>
          </a:prstGeom>
          <a:solidFill>
            <a:srgbClr val="22D3E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5778500" y="4151811"/>
            <a:ext cx="635000" cy="50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3175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+mj-ea"/>
                <a:ea typeface="+mj-ea"/>
              </a:rPr>
              <a:t>感谢聆听，欢迎各位老师批评指正！</a:t>
            </a:r>
            <a:endParaRPr lang="zh-CN" altLang="en-US" sz="4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946</Words>
  <Application>WPS 演示</Application>
  <PresentationFormat>宽屏</PresentationFormat>
  <Paragraphs>95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阿柒</cp:lastModifiedBy>
  <cp:revision>5</cp:revision>
  <dcterms:created xsi:type="dcterms:W3CDTF">2026-06-12T16:37:00Z</dcterms:created>
  <dcterms:modified xsi:type="dcterms:W3CDTF">2026-07-06T08:47:09Z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{"Label":"1","ContentProducer":"001191110102MACQD9K64010000","ProduceID":"7650528431188823238","ReservedCode1":"","ContentPropagator":"","PropagateID":"","ReservedCode2":""}</vt:lpwstr>
  </property>
  <property fmtid="{D5CDD505-2E9C-101B-9397-08002B2CF9AE}" pid="3" name="KSOProductBuildVer">
    <vt:lpwstr>2052-12.1.0.26895</vt:lpwstr>
  </property>
  <property fmtid="{D5CDD505-2E9C-101B-9397-08002B2CF9AE}" pid="4" name="ICV">
    <vt:lpwstr>4800CE5C9ADE4FA6BB95234EA3256FBD_12</vt:lpwstr>
  </property>
</Properties>
</file>